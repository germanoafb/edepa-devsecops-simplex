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71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86" d="100"/>
          <a:sy n="86" d="100"/>
        </p:scale>
        <p:origin x="7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36E11-932E-4444-A390-51537D65A07B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20539-42D5-40EF-BDD6-BE52B751E3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553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tarde. Sou o Germano, de Engenharia de Computação da UNIUBE. Vou apresentar um trabalho que junta segurança de código gerado por inteligência artificial e o Método Simplex, para decidir como distribuir as horas de verificação de uma equipe. (≈15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Ferramentas de IA já escrevem código e entram nos pipelines de desenvolvimento. Mas a literatura mostra que esse código nem sempre é seguro: Pearce encontrou cerca de 40% de programas vulneráveis, e Perry mostrou que quem usa IA confia demais. Para delimitar, considerei a camada de software de supervisão de uma unidade de secagem de grãos, um cenário proposto, com cinco componentes típicos. A pergunta é: como combinar verificação automática e revisão humana com horas limitadas? (≈45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objetivo é examinar como verificação automática e humana se combinam, em três entregas: uma revisão com 11 documentos, um ensaio em que três IAs geraram código analisado pelo Bandit, e um modelo de Programação Linear resolvido pelo Simplex. Os dois últimos são demonstrativos. (≈25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revisão, classifiquei cada documento como revisado por pares, preprint ou institucional. No ensaio, mandei os mesmos cinco pedidos, sem falar de segurança, para ChatGPT, Gemini e Claude, e analisei os 15 códigos com o Bandit e por leitura manual. O modelo, à direita, maximiza um índice de redução de risco com 40 horas de equipe, até 24 no pipeline e até 20 de revisores. Importante: esses números são hipóteses de um cenário ilustrativo. Tudo está no repositório. (≈50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esquerda, o ensaio: 5 dos 15 trechos tiveram alerta do Bandit, nenhum grave, e nenhum virou vulnerabilidade confirmada; 6 eram falsos positivos. Ao contrário, a revisão humana achou 4 fragilidades que o Bandit não viu, todas no Gemini, como poucas iterações no hash de senha. À direita, o Simplex: o ótimo é 20 horas de análise estática e 20 de revisão, com Z igual a 200, conferido por script. As restrições de equipe e revisão ficam ativas; a folga de 4 horas é só do pipeline. Uma hora a mais de equipe dá mais 4 pontos, de revisão mais 2, de pipeline nada; mas, como o modelo não tem custos, não digo qual compensa. (≈65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Concluindo: o scanner gerou alertas que não eram vulnerabilidades e deixou passar fragilidades que só a leitura humana pegou, então as duas coisas se complementam. O modelo está correto e verificado, mas é demonstrativo. Os próximos passos são ampliar o ensaio, medir tempos reais e incluir custos. (≈30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Principais referências; a lista completa está no artigo. (≈5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Agradeço à UNIUBE e à organização do EDEPA. Todo o material está no repositório do QR code. Obrigado, fico à disposição para perguntas. (≈10 s)  TOTAL ESTIMADO: cerca de 4 a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78EDC-8ED4-256C-CF22-198522F7A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7B6B43-B14E-4B4D-6982-F17BA4611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438CC4-E411-BDA8-EF5F-9C6DD7F3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354ED-BBD2-4BC0-8FCC-440450D2C60F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914B82-1497-D5CD-D777-325AB7E25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1D26C3-B3AE-AC57-A8CD-9295358C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42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3151F-EA81-170A-899C-87488B247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82C900-6ADC-3DFE-C9FB-F6014AAAB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20F6E5-7F66-FC1D-C059-380727F9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8139-064C-46C0-9D96-E0DCB6BA2A4F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F7F449-CB30-079F-1D2E-08C04DEE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CA7580-D074-08E7-62D2-8E5D2A38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13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87E9E-A0F0-AFF1-4D42-111F26DE7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6A6CA1-B04B-366E-B0BE-9551907EA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FFE754-3133-4A59-BAFC-66DCA3EE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EB089-947A-4AC2-9951-CAA173D5141F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CEF8A4-7FB0-B7D6-3F69-1F983D004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EF5CF2-1B13-DCE2-5975-DBFC2ABA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756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489BC-4C8F-5108-903B-0757E4CA3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C52421-5844-159A-BDD9-2C59DAB5C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62E94A-D9FD-D7C3-3062-E179AD167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DD24EF-0F89-17A4-7111-3BB6E3A5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3B4B-387E-455E-932D-3A2B62A379A6}" type="datetime1">
              <a:rPr lang="pt-BR" smtClean="0"/>
              <a:t>02/09/2026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BD96D2-65AA-4346-B7EC-ACB04A36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9E55C2-FC01-9703-9CA9-3F1AE686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97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4D217-869F-6F16-E07E-71973DA7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F25429-28E1-919D-34AB-B33536949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1362D7-8F7E-1C6C-C551-3379A745E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203997-0E77-8E24-715F-855E33738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951403-CEEC-001F-8F88-7B76B59BE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80282D7-273C-D7A6-936F-88DE9F17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200E-2F85-4216-90FC-560D4EE470BA}" type="datetime1">
              <a:rPr lang="pt-BR" smtClean="0"/>
              <a:t>02/09/2026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55F3F73-8AE6-E23B-A562-914CC0AA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5C0A296-B2AB-19FC-6361-AEF236B1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274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44BB2-7F41-9F90-9FBF-012A3AE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F2AEE8-5C1B-30F9-4288-CD276938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13F27-D387-4DE6-A001-75BA1D27CF36}" type="datetime1">
              <a:rPr lang="pt-BR" smtClean="0"/>
              <a:t>02/09/2026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BEB11A-DFD2-2FEA-0B57-948B11C7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280A21-5B52-1314-BFFD-AD1BCE55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475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F29F80-ED33-233D-ECD6-2B5D39AD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B2EC4-CD59-42E1-B1AB-A4F52EBA9C39}" type="datetime1">
              <a:rPr lang="pt-BR" smtClean="0"/>
              <a:t>02/09/2026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DEB32C-D061-B582-B4B4-8583C664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E1274C-3934-4351-DE80-7C74E865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63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C28F-DD19-C78B-9F84-6A5FB552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A87A18-8599-B935-5F91-6F623CCE9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2B4E00-E88D-63DF-406E-4A01FBE14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632AA5-65D4-0F4A-7959-CDB00F08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8222-6E07-453D-9CB6-B5CC64A1F993}" type="datetime1">
              <a:rPr lang="pt-BR" smtClean="0"/>
              <a:t>02/09/2026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609928-37ED-9C44-5B53-A239B0A0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479D66-32EB-F822-71A7-5BDE415B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47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292EC-BE8A-CECC-E2C7-A65F5403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0D54416-32D3-8D48-CE2B-0F358EF0C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6B5373-67F5-7722-A00B-6D51D4DD9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B5646B-3536-D3C2-9698-7AFDD1F7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E6E5-6A9B-4FFB-8E3C-9DA0BB505E99}" type="datetime1">
              <a:rPr lang="pt-BR" smtClean="0"/>
              <a:t>02/09/2026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5CA28C-79D9-C349-8F2C-D85ABE5B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97229E-69D4-9CA4-E1B7-5A610E39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45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AD10D-7196-DA73-9CCB-8AC2A6B1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C268B0-DBCB-B597-DEB0-DD8451297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105C49-CEF2-18E5-C2AE-FAC7E7928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FBD6-949F-471B-A81D-C31CB3A5386D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F239A3-5818-5C2A-418E-000BF5F1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B68CDD-E9FB-87B9-530C-D09E425D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50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669D12-1BD8-5901-B8E9-30F71D7D6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EB23F0-F531-EF04-9206-4EE486093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3BA056-B46B-0C64-8C06-8BA6759B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DD071-8DF6-4FDC-B2C2-6C71262249A2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B1925B-F967-87C5-0BC8-FD98E4B8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6EBB64-F860-708E-38B4-D12170F2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9387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177501F-F3F1-207A-613E-B3BDDE50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F0385A-2B36-F6BF-4ED5-FD13C790C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AC27C3-0959-BF19-C860-9464F300F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FAA5D-7A27-4F58-908B-2A40758BCD5B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32238A-A74F-930B-C2AF-CDA17D95C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Uberaba, 24 e 25 de Novembro de 2023 – Link: https://www.uniube.br/eventos/edepa/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6979FC-EECE-66B0-FB74-8EC04C88F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3F3BB-C1D2-4154-B2A3-2B88CA69E8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61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02844-E542-1C11-751D-4C71E1325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1F4E2C"/>
                </a:solidFill>
              </a:rPr>
              <a:t>Verificação de código gerado por IA em DevSecOps para supervisão agroindustrial: ensaio com Bandit e alocação de horas pelo Método Simplex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86D06E-6421-6D6C-0EE5-2FADAE069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Germano Augusto Freitas Barbosa</a:t>
            </a:r>
          </a:p>
          <a:p>
            <a:r>
              <a:rPr sz="2000">
                <a:solidFill>
                  <a:srgbClr val="595959"/>
                </a:solidFill>
              </a:rPr>
              <a:t>Universidade de Uberaba (UNIUBE) – Curso de Engenharia de Computação</a:t>
            </a:r>
          </a:p>
        </p:txBody>
      </p:sp>
      <p:sp>
        <p:nvSpPr>
          <p:cNvPr id="4" name="Espaço Reservado para Rodapé 10">
            <a:extLst>
              <a:ext uri="{FF2B5EF4-FFF2-40B4-BE49-F238E27FC236}">
                <a16:creationId xmlns:a16="http://schemas.microsoft.com/office/drawing/2014/main" id="{E474345D-AF97-B54A-4B43-35275182A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044514" cy="365125"/>
          </a:xfrm>
        </p:spPr>
        <p:txBody>
          <a:bodyPr/>
          <a:lstStyle/>
          <a:p>
            <a:r>
              <a:rPr lang="pt-BR" dirty="0"/>
              <a:t>Uberaba, 27 e 28 de Novembro de 2026 – Link: https://www.uniube.br/eventos/edepa/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1690BA9-AD05-4CF8-AE43-83D43F6CA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01" y="0"/>
            <a:ext cx="3337199" cy="111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0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6162416C-31EC-77E5-C86F-91EC27A21B70}"/>
              </a:ext>
            </a:extLst>
          </p:cNvPr>
          <p:cNvSpPr txBox="1"/>
          <p:nvPr/>
        </p:nvSpPr>
        <p:spPr>
          <a:xfrm>
            <a:off x="827313" y="865027"/>
            <a:ext cx="9971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/>
              <a:t>INTRODUÇÃO</a:t>
            </a:r>
          </a:p>
        </p:txBody>
      </p:sp>
      <p:sp>
        <p:nvSpPr>
          <p:cNvPr id="2" name="Espaço Reservado para Número de Slide 2">
            <a:extLst>
              <a:ext uri="{FF2B5EF4-FFF2-40B4-BE49-F238E27FC236}">
                <a16:creationId xmlns:a16="http://schemas.microsoft.com/office/drawing/2014/main" id="{B50908D5-71BF-F7D1-674F-5E37AF7D6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A9DCC7-CE67-40A0-B496-FC70A1A853DB}" type="slidenum">
              <a:rPr lang="pt-BR" sz="18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C2F86DE-E662-84B8-B846-4E9431A561B5}"/>
              </a:ext>
            </a:extLst>
          </p:cNvPr>
          <p:cNvSpPr/>
          <p:nvPr/>
        </p:nvSpPr>
        <p:spPr>
          <a:xfrm>
            <a:off x="11023600" y="6369050"/>
            <a:ext cx="304800" cy="3651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fld id="{EFA9DCC7-CE67-40A0-B496-FC70A1A853DB}" type="slidenum">
              <a:rPr lang="pt-BR" dirty="0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</a:p>
        </p:txBody>
      </p:sp>
      <p:sp>
        <p:nvSpPr>
          <p:cNvPr id="7" name="Espaço Reservado para Rodapé 10">
            <a:extLst>
              <a:ext uri="{FF2B5EF4-FFF2-40B4-BE49-F238E27FC236}">
                <a16:creationId xmlns:a16="http://schemas.microsoft.com/office/drawing/2014/main" id="{0DB4902F-BD3F-43CE-9D60-60DE2C82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044514" cy="365125"/>
          </a:xfrm>
        </p:spPr>
        <p:txBody>
          <a:bodyPr/>
          <a:lstStyle/>
          <a:p>
            <a:r>
              <a:rPr lang="pt-BR" dirty="0"/>
              <a:t>Uberaba, 27 e 28 de Novembro de 2026 – Link: https://www.uniube.br/eventos/edepa/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0BF36831-B6E4-4457-918A-FD3EF0454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00" y="0"/>
            <a:ext cx="3337200" cy="1112400"/>
          </a:xfrm>
          <a:prstGeom prst="rect">
            <a:avLst/>
          </a:prstGeom>
        </p:spPr>
      </p:pic>
      <p:sp>
        <p:nvSpPr>
          <p:cNvPr id="11" name="Manchete"/>
          <p:cNvSpPr txBox="1"/>
          <p:nvPr/>
        </p:nvSpPr>
        <p:spPr>
          <a:xfrm>
            <a:off x="822960" y="1481328"/>
            <a:ext cx="10545775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4E2C"/>
                </a:solidFill>
              </a:rPr>
              <a:t>A IA já escreve código. Quem verifica a segurança?</a:t>
            </a:r>
          </a:p>
        </p:txBody>
      </p:sp>
      <p:sp>
        <p:nvSpPr>
          <p:cNvPr id="12" name="Cartão"/>
          <p:cNvSpPr/>
          <p:nvPr/>
        </p:nvSpPr>
        <p:spPr>
          <a:xfrm>
            <a:off x="822960" y="2148840"/>
            <a:ext cx="3291840" cy="205740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Ícone robot"/>
          <p:cNvSpPr/>
          <p:nvPr/>
        </p:nvSpPr>
        <p:spPr>
          <a:xfrm>
            <a:off x="1051560" y="2286000"/>
            <a:ext cx="594360" cy="59436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19" y="2416759"/>
            <a:ext cx="332841" cy="332841"/>
          </a:xfrm>
          <a:prstGeom prst="rect">
            <a:avLst/>
          </a:prstGeom>
        </p:spPr>
      </p:pic>
      <p:sp>
        <p:nvSpPr>
          <p:cNvPr id="15" name="Texto"/>
          <p:cNvSpPr txBox="1"/>
          <p:nvPr/>
        </p:nvSpPr>
        <p:spPr>
          <a:xfrm>
            <a:off x="1783080" y="237744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F4E2C"/>
                </a:solidFill>
              </a:rPr>
              <a:t>IA gera código</a:t>
            </a:r>
          </a:p>
        </p:txBody>
      </p:sp>
      <p:sp>
        <p:nvSpPr>
          <p:cNvPr id="16" name="Texto"/>
          <p:cNvSpPr txBox="1"/>
          <p:nvPr/>
        </p:nvSpPr>
        <p:spPr>
          <a:xfrm>
            <a:off x="1051560" y="3017520"/>
            <a:ext cx="288036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</a:rPr>
              <a:t>ChatGPT, Gemini e Claude já escrevem e revisam código em pipelines de CI/CD.</a:t>
            </a:r>
          </a:p>
        </p:txBody>
      </p:sp>
      <p:sp>
        <p:nvSpPr>
          <p:cNvPr id="17" name="Cartão"/>
          <p:cNvSpPr/>
          <p:nvPr/>
        </p:nvSpPr>
        <p:spPr>
          <a:xfrm>
            <a:off x="4389120" y="2148840"/>
            <a:ext cx="3291840" cy="205740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Ícone bug"/>
          <p:cNvSpPr/>
          <p:nvPr/>
        </p:nvSpPr>
        <p:spPr>
          <a:xfrm>
            <a:off x="4617720" y="2286000"/>
            <a:ext cx="594360" cy="59436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79" y="2416759"/>
            <a:ext cx="332841" cy="332841"/>
          </a:xfrm>
          <a:prstGeom prst="rect">
            <a:avLst/>
          </a:prstGeom>
        </p:spPr>
      </p:pic>
      <p:sp>
        <p:nvSpPr>
          <p:cNvPr id="20" name="Texto"/>
          <p:cNvSpPr txBox="1"/>
          <p:nvPr/>
        </p:nvSpPr>
        <p:spPr>
          <a:xfrm>
            <a:off x="5349240" y="237744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F4E2C"/>
                </a:solidFill>
              </a:rPr>
              <a:t>Nem sempre é seguro</a:t>
            </a:r>
          </a:p>
        </p:txBody>
      </p:sp>
      <p:sp>
        <p:nvSpPr>
          <p:cNvPr id="21" name="Texto"/>
          <p:cNvSpPr txBox="1"/>
          <p:nvPr/>
        </p:nvSpPr>
        <p:spPr>
          <a:xfrm>
            <a:off x="4617720" y="3017520"/>
            <a:ext cx="288036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</a:rPr>
              <a:t>Pearce et al. (2022): ≈40% de programas do Copilot vulneráveis. Perry et al. (2023): mais confiança, menos segurança.</a:t>
            </a:r>
          </a:p>
        </p:txBody>
      </p:sp>
      <p:sp>
        <p:nvSpPr>
          <p:cNvPr id="22" name="Cartão"/>
          <p:cNvSpPr/>
          <p:nvPr/>
        </p:nvSpPr>
        <p:spPr>
          <a:xfrm>
            <a:off x="7955279" y="2148840"/>
            <a:ext cx="3291840" cy="205740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Ícone industry"/>
          <p:cNvSpPr/>
          <p:nvPr/>
        </p:nvSpPr>
        <p:spPr>
          <a:xfrm>
            <a:off x="8183879" y="2286000"/>
            <a:ext cx="594360" cy="59436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ndus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639" y="2416759"/>
            <a:ext cx="332841" cy="332841"/>
          </a:xfrm>
          <a:prstGeom prst="rect">
            <a:avLst/>
          </a:prstGeom>
        </p:spPr>
      </p:pic>
      <p:sp>
        <p:nvSpPr>
          <p:cNvPr id="25" name="Texto"/>
          <p:cNvSpPr txBox="1"/>
          <p:nvPr/>
        </p:nvSpPr>
        <p:spPr>
          <a:xfrm>
            <a:off x="8915400" y="2377440"/>
            <a:ext cx="2240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F4E2C"/>
                </a:solidFill>
              </a:rPr>
              <a:t>Agroindústria digital</a:t>
            </a:r>
          </a:p>
        </p:txBody>
      </p:sp>
      <p:sp>
        <p:nvSpPr>
          <p:cNvPr id="26" name="Texto"/>
          <p:cNvSpPr txBox="1"/>
          <p:nvPr/>
        </p:nvSpPr>
        <p:spPr>
          <a:xfrm>
            <a:off x="8183879" y="3017520"/>
            <a:ext cx="288036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</a:rPr>
              <a:t>Supervisão de silos e secadores depende de software (Pinheiro, 2019; Zhang et al., 2024).</a:t>
            </a:r>
          </a:p>
        </p:txBody>
      </p:sp>
      <p:sp>
        <p:nvSpPr>
          <p:cNvPr id="27" name="Texto"/>
          <p:cNvSpPr txBox="1"/>
          <p:nvPr/>
        </p:nvSpPr>
        <p:spPr>
          <a:xfrm>
            <a:off x="822960" y="4389120"/>
            <a:ext cx="10545775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E2C"/>
                </a:solidFill>
              </a:rPr>
              <a:t>Caso delimitado (cenário proposto): </a:t>
            </a:r>
            <a:r>
              <a:rPr sz="1600" b="0" i="0">
                <a:solidFill>
                  <a:srgbClr val="262626"/>
                </a:solidFill>
              </a:rPr>
              <a:t>supervisão em Python de uma unidade de secagem de grãos</a:t>
            </a:r>
          </a:p>
        </p:txBody>
      </p:sp>
      <p:sp>
        <p:nvSpPr>
          <p:cNvPr id="28" name="Cartão"/>
          <p:cNvSpPr/>
          <p:nvPr/>
        </p:nvSpPr>
        <p:spPr>
          <a:xfrm>
            <a:off x="822960" y="4937760"/>
            <a:ext cx="196596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Ícone key"/>
          <p:cNvSpPr/>
          <p:nvPr/>
        </p:nvSpPr>
        <p:spPr>
          <a:xfrm>
            <a:off x="932688" y="5074920"/>
            <a:ext cx="457200" cy="45720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175504"/>
            <a:ext cx="256032" cy="256032"/>
          </a:xfrm>
          <a:prstGeom prst="rect">
            <a:avLst/>
          </a:prstGeom>
        </p:spPr>
      </p:pic>
      <p:sp>
        <p:nvSpPr>
          <p:cNvPr id="31" name="Texto"/>
          <p:cNvSpPr txBox="1"/>
          <p:nvPr/>
        </p:nvSpPr>
        <p:spPr>
          <a:xfrm>
            <a:off x="1463040" y="4983480"/>
            <a:ext cx="12801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</a:rPr>
              <a:t>T1 Autenticação</a:t>
            </a:r>
          </a:p>
        </p:txBody>
      </p:sp>
      <p:sp>
        <p:nvSpPr>
          <p:cNvPr id="32" name="Cartão"/>
          <p:cNvSpPr/>
          <p:nvPr/>
        </p:nvSpPr>
        <p:spPr>
          <a:xfrm>
            <a:off x="2980944" y="4937760"/>
            <a:ext cx="196596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Ícone lock"/>
          <p:cNvSpPr/>
          <p:nvPr/>
        </p:nvSpPr>
        <p:spPr>
          <a:xfrm>
            <a:off x="3090672" y="5074920"/>
            <a:ext cx="457200" cy="45720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1256" y="5175504"/>
            <a:ext cx="256032" cy="256032"/>
          </a:xfrm>
          <a:prstGeom prst="rect">
            <a:avLst/>
          </a:prstGeom>
        </p:spPr>
      </p:pic>
      <p:sp>
        <p:nvSpPr>
          <p:cNvPr id="35" name="Texto"/>
          <p:cNvSpPr txBox="1"/>
          <p:nvPr/>
        </p:nvSpPr>
        <p:spPr>
          <a:xfrm>
            <a:off x="3621024" y="4983480"/>
            <a:ext cx="12801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</a:rPr>
              <a:t>T2 Senhas</a:t>
            </a:r>
          </a:p>
        </p:txBody>
      </p:sp>
      <p:sp>
        <p:nvSpPr>
          <p:cNvPr id="36" name="Cartão"/>
          <p:cNvSpPr/>
          <p:nvPr/>
        </p:nvSpPr>
        <p:spPr>
          <a:xfrm>
            <a:off x="5138928" y="4937760"/>
            <a:ext cx="196596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Ícone upload"/>
          <p:cNvSpPr/>
          <p:nvPr/>
        </p:nvSpPr>
        <p:spPr>
          <a:xfrm>
            <a:off x="5248656" y="5074920"/>
            <a:ext cx="457200" cy="45720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uplo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5175504"/>
            <a:ext cx="256032" cy="256032"/>
          </a:xfrm>
          <a:prstGeom prst="rect">
            <a:avLst/>
          </a:prstGeom>
        </p:spPr>
      </p:pic>
      <p:sp>
        <p:nvSpPr>
          <p:cNvPr id="39" name="Texto"/>
          <p:cNvSpPr txBox="1"/>
          <p:nvPr/>
        </p:nvSpPr>
        <p:spPr>
          <a:xfrm>
            <a:off x="5779008" y="4983480"/>
            <a:ext cx="12801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</a:rPr>
              <a:t>T3 Upload de laudos</a:t>
            </a:r>
          </a:p>
        </p:txBody>
      </p:sp>
      <p:sp>
        <p:nvSpPr>
          <p:cNvPr id="40" name="Cartão"/>
          <p:cNvSpPr/>
          <p:nvPr/>
        </p:nvSpPr>
        <p:spPr>
          <a:xfrm>
            <a:off x="7296912" y="4937760"/>
            <a:ext cx="196596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Ícone net"/>
          <p:cNvSpPr/>
          <p:nvPr/>
        </p:nvSpPr>
        <p:spPr>
          <a:xfrm>
            <a:off x="7406640" y="5074920"/>
            <a:ext cx="457200" cy="45720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n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7223" y="5175504"/>
            <a:ext cx="256032" cy="256032"/>
          </a:xfrm>
          <a:prstGeom prst="rect">
            <a:avLst/>
          </a:prstGeom>
        </p:spPr>
      </p:pic>
      <p:sp>
        <p:nvSpPr>
          <p:cNvPr id="43" name="Texto"/>
          <p:cNvSpPr txBox="1"/>
          <p:nvPr/>
        </p:nvSpPr>
        <p:spPr>
          <a:xfrm>
            <a:off x="7936992" y="4983480"/>
            <a:ext cx="12801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</a:rPr>
              <a:t>T4 Teste de ping</a:t>
            </a:r>
          </a:p>
        </p:txBody>
      </p:sp>
      <p:sp>
        <p:nvSpPr>
          <p:cNvPr id="44" name="Cartão"/>
          <p:cNvSpPr/>
          <p:nvPr/>
        </p:nvSpPr>
        <p:spPr>
          <a:xfrm>
            <a:off x="9454896" y="4937760"/>
            <a:ext cx="196596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Ícone file"/>
          <p:cNvSpPr/>
          <p:nvPr/>
        </p:nvSpPr>
        <p:spPr>
          <a:xfrm>
            <a:off x="9564624" y="5074920"/>
            <a:ext cx="457200" cy="45720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i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5207" y="5175504"/>
            <a:ext cx="256032" cy="256032"/>
          </a:xfrm>
          <a:prstGeom prst="rect">
            <a:avLst/>
          </a:prstGeom>
        </p:spPr>
      </p:pic>
      <p:sp>
        <p:nvSpPr>
          <p:cNvPr id="47" name="Texto"/>
          <p:cNvSpPr txBox="1"/>
          <p:nvPr/>
        </p:nvSpPr>
        <p:spPr>
          <a:xfrm>
            <a:off x="10094976" y="4983480"/>
            <a:ext cx="12801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</a:rPr>
              <a:t>T5 Config. XML</a:t>
            </a:r>
          </a:p>
        </p:txBody>
      </p:sp>
    </p:spTree>
    <p:extLst>
      <p:ext uri="{BB962C8B-B14F-4D97-AF65-F5344CB8AC3E}">
        <p14:creationId xmlns:p14="http://schemas.microsoft.com/office/powerpoint/2010/main" val="42632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6162416C-31EC-77E5-C86F-91EC27A21B70}"/>
              </a:ext>
            </a:extLst>
          </p:cNvPr>
          <p:cNvSpPr txBox="1"/>
          <p:nvPr/>
        </p:nvSpPr>
        <p:spPr>
          <a:xfrm>
            <a:off x="827313" y="865027"/>
            <a:ext cx="9971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/>
              <a:t>OBJETIVOS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745A6C2-A547-DB24-51FE-15A77C57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A9DCC7-CE67-40A0-B496-FC70A1A853DB}" type="slidenum">
              <a:rPr lang="pt-BR" sz="18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1BD57E1-7341-285F-14CF-E1EF18A136FB}"/>
              </a:ext>
            </a:extLst>
          </p:cNvPr>
          <p:cNvSpPr/>
          <p:nvPr/>
        </p:nvSpPr>
        <p:spPr>
          <a:xfrm>
            <a:off x="11023600" y="6369050"/>
            <a:ext cx="304800" cy="3651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fld id="{EFA9DCC7-CE67-40A0-B496-FC70A1A853DB}" type="slidenum">
              <a:rPr lang="pt-BR" dirty="0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</a:p>
        </p:txBody>
      </p:sp>
      <p:sp>
        <p:nvSpPr>
          <p:cNvPr id="7" name="Espaço Reservado para Rodapé 10">
            <a:extLst>
              <a:ext uri="{FF2B5EF4-FFF2-40B4-BE49-F238E27FC236}">
                <a16:creationId xmlns:a16="http://schemas.microsoft.com/office/drawing/2014/main" id="{9FCA3F41-6CB0-4A92-9C3B-CA5003DA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044514" cy="365125"/>
          </a:xfrm>
        </p:spPr>
        <p:txBody>
          <a:bodyPr/>
          <a:lstStyle/>
          <a:p>
            <a:r>
              <a:rPr lang="pt-BR" dirty="0"/>
              <a:t>Uberaba, 27 e 28 de Novembro de 2026 – Link: https://www.uniube.br/eventos/edepa/</a:t>
            </a:r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0359F21B-E9F7-4EDA-B578-44D3B2230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01" y="0"/>
            <a:ext cx="3337199" cy="1112400"/>
          </a:xfrm>
          <a:prstGeom prst="rect">
            <a:avLst/>
          </a:prstGeom>
        </p:spPr>
      </p:pic>
      <p:sp>
        <p:nvSpPr>
          <p:cNvPr id="11" name="Manchete"/>
          <p:cNvSpPr txBox="1"/>
          <p:nvPr/>
        </p:nvSpPr>
        <p:spPr>
          <a:xfrm>
            <a:off x="822960" y="1481328"/>
            <a:ext cx="10545775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4E2C"/>
                </a:solidFill>
              </a:rPr>
              <a:t>Examinar como verificação automatizada e humana se combinam</a:t>
            </a:r>
          </a:p>
        </p:txBody>
      </p:sp>
      <p:sp>
        <p:nvSpPr>
          <p:cNvPr id="12" name="Cartão"/>
          <p:cNvSpPr/>
          <p:nvPr/>
        </p:nvSpPr>
        <p:spPr>
          <a:xfrm>
            <a:off x="822960" y="22402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Ícone book"/>
          <p:cNvSpPr/>
          <p:nvPr/>
        </p:nvSpPr>
        <p:spPr>
          <a:xfrm>
            <a:off x="2080260" y="2468880"/>
            <a:ext cx="777240" cy="77724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252" y="2639872"/>
            <a:ext cx="435254" cy="435254"/>
          </a:xfrm>
          <a:prstGeom prst="rect">
            <a:avLst/>
          </a:prstGeom>
        </p:spPr>
      </p:pic>
      <p:sp>
        <p:nvSpPr>
          <p:cNvPr id="15" name="Texto"/>
          <p:cNvSpPr txBox="1"/>
          <p:nvPr/>
        </p:nvSpPr>
        <p:spPr>
          <a:xfrm>
            <a:off x="1051560" y="3429000"/>
            <a:ext cx="28346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1F4E2C"/>
                </a:solidFill>
              </a:rPr>
              <a:t>1. Revisão narrativa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</a:rPr>
              <a:t>11 documentos (2019–2026) sobre segurança de código gerado por IA, triagem com LLMs e cadeia de suprimentos de modelos.</a:t>
            </a:r>
          </a:p>
        </p:txBody>
      </p:sp>
      <p:sp>
        <p:nvSpPr>
          <p:cNvPr id="16" name="Cartão"/>
          <p:cNvSpPr/>
          <p:nvPr/>
        </p:nvSpPr>
        <p:spPr>
          <a:xfrm>
            <a:off x="4389120" y="22402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Ícone flask"/>
          <p:cNvSpPr/>
          <p:nvPr/>
        </p:nvSpPr>
        <p:spPr>
          <a:xfrm>
            <a:off x="5646420" y="2468880"/>
            <a:ext cx="777240" cy="77724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412" y="2639872"/>
            <a:ext cx="435254" cy="435254"/>
          </a:xfrm>
          <a:prstGeom prst="rect">
            <a:avLst/>
          </a:prstGeom>
        </p:spPr>
      </p:pic>
      <p:sp>
        <p:nvSpPr>
          <p:cNvPr id="19" name="Texto"/>
          <p:cNvSpPr txBox="1"/>
          <p:nvPr/>
        </p:nvSpPr>
        <p:spPr>
          <a:xfrm>
            <a:off x="4617720" y="3429000"/>
            <a:ext cx="28346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1F4E2C"/>
                </a:solidFill>
              </a:rPr>
              <a:t>2. Ensaio exploratório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</a:rPr>
              <a:t>Código gerado por 3 IAs e analisado com o Bandit, separando alerta, falso positivo e vulnerabilidade confirmada.</a:t>
            </a:r>
          </a:p>
        </p:txBody>
      </p:sp>
      <p:sp>
        <p:nvSpPr>
          <p:cNvPr id="20" name="Cartão"/>
          <p:cNvSpPr/>
          <p:nvPr/>
        </p:nvSpPr>
        <p:spPr>
          <a:xfrm>
            <a:off x="7955279" y="2240280"/>
            <a:ext cx="3291840" cy="301752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Ícone calc"/>
          <p:cNvSpPr/>
          <p:nvPr/>
        </p:nvSpPr>
        <p:spPr>
          <a:xfrm>
            <a:off x="9212580" y="2468880"/>
            <a:ext cx="777240" cy="77724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l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3572" y="2639872"/>
            <a:ext cx="435254" cy="435254"/>
          </a:xfrm>
          <a:prstGeom prst="rect">
            <a:avLst/>
          </a:prstGeom>
        </p:spPr>
      </p:pic>
      <p:sp>
        <p:nvSpPr>
          <p:cNvPr id="23" name="Texto"/>
          <p:cNvSpPr txBox="1"/>
          <p:nvPr/>
        </p:nvSpPr>
        <p:spPr>
          <a:xfrm>
            <a:off x="8183879" y="3429000"/>
            <a:ext cx="28346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1F4E2C"/>
                </a:solidFill>
              </a:rPr>
              <a:t>3. Modelo de PL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</a:rPr>
              <a:t>Alocação de horas de verificação pelo Método Simplex, com conferência computacional e análise de sensibilidade.</a:t>
            </a:r>
          </a:p>
        </p:txBody>
      </p:sp>
      <p:sp>
        <p:nvSpPr>
          <p:cNvPr id="24" name="Texto"/>
          <p:cNvSpPr txBox="1"/>
          <p:nvPr/>
        </p:nvSpPr>
        <p:spPr>
          <a:xfrm>
            <a:off x="822960" y="5440680"/>
            <a:ext cx="10545775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55A11"/>
                </a:solidFill>
              </a:rPr>
              <a:t>Alcance: </a:t>
            </a:r>
            <a:r>
              <a:rPr sz="1500" b="0" i="1">
                <a:solidFill>
                  <a:srgbClr val="262626"/>
                </a:solidFill>
              </a:rPr>
              <a:t>o ensaio não estima taxas de vulnerabilidade e o modelo não é calibrado com dados reais; ambos são demonstrativos.</a:t>
            </a:r>
          </a:p>
        </p:txBody>
      </p:sp>
    </p:spTree>
    <p:extLst>
      <p:ext uri="{BB962C8B-B14F-4D97-AF65-F5344CB8AC3E}">
        <p14:creationId xmlns:p14="http://schemas.microsoft.com/office/powerpoint/2010/main" val="96940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6162416C-31EC-77E5-C86F-91EC27A21B70}"/>
              </a:ext>
            </a:extLst>
          </p:cNvPr>
          <p:cNvSpPr txBox="1"/>
          <p:nvPr/>
        </p:nvSpPr>
        <p:spPr>
          <a:xfrm>
            <a:off x="827313" y="865027"/>
            <a:ext cx="9971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/>
              <a:t>MATERIAL E MÉTODOS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BB3AE14-5720-39EE-6A5C-D2C7C6F6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A9DCC7-CE67-40A0-B496-FC70A1A853DB}" type="slidenum">
              <a:rPr lang="pt-BR" sz="18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474735D-4B70-1234-AD57-CAD802B9EC5D}"/>
              </a:ext>
            </a:extLst>
          </p:cNvPr>
          <p:cNvSpPr/>
          <p:nvPr/>
        </p:nvSpPr>
        <p:spPr>
          <a:xfrm>
            <a:off x="11023600" y="6369050"/>
            <a:ext cx="304800" cy="3651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fld id="{EFA9DCC7-CE67-40A0-B496-FC70A1A853DB}" type="slidenum">
              <a:rPr lang="pt-BR" dirty="0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</a:p>
        </p:txBody>
      </p:sp>
      <p:sp>
        <p:nvSpPr>
          <p:cNvPr id="7" name="Espaço Reservado para Rodapé 10">
            <a:extLst>
              <a:ext uri="{FF2B5EF4-FFF2-40B4-BE49-F238E27FC236}">
                <a16:creationId xmlns:a16="http://schemas.microsoft.com/office/drawing/2014/main" id="{F3E7D949-C371-492C-B3B0-75C726EF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044514" cy="365125"/>
          </a:xfrm>
        </p:spPr>
        <p:txBody>
          <a:bodyPr/>
          <a:lstStyle/>
          <a:p>
            <a:r>
              <a:rPr lang="pt-BR" dirty="0"/>
              <a:t>Uberaba, 27 e 28 de Novembro de 2026 – Link: https://www.uniube.br/eventos/edepa/</a:t>
            </a:r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61ECF28D-A015-4790-AFF6-47822CB83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01" y="0"/>
            <a:ext cx="3337199" cy="1112400"/>
          </a:xfrm>
          <a:prstGeom prst="rect">
            <a:avLst/>
          </a:prstGeom>
        </p:spPr>
      </p:pic>
      <p:sp>
        <p:nvSpPr>
          <p:cNvPr id="11" name="Manchete"/>
          <p:cNvSpPr txBox="1"/>
          <p:nvPr/>
        </p:nvSpPr>
        <p:spPr>
          <a:xfrm>
            <a:off x="822960" y="1481328"/>
            <a:ext cx="10545775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4E2C"/>
                </a:solidFill>
              </a:rPr>
              <a:t>Três procedimentos complementares</a:t>
            </a:r>
          </a:p>
        </p:txBody>
      </p:sp>
      <p:sp>
        <p:nvSpPr>
          <p:cNvPr id="12" name="Cartão"/>
          <p:cNvSpPr/>
          <p:nvPr/>
        </p:nvSpPr>
        <p:spPr>
          <a:xfrm>
            <a:off x="822960" y="2194560"/>
            <a:ext cx="5394960" cy="896112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Ícone book"/>
          <p:cNvSpPr/>
          <p:nvPr/>
        </p:nvSpPr>
        <p:spPr>
          <a:xfrm>
            <a:off x="987552" y="2350008"/>
            <a:ext cx="585216" cy="585216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299" y="2478755"/>
            <a:ext cx="327720" cy="327720"/>
          </a:xfrm>
          <a:prstGeom prst="rect">
            <a:avLst/>
          </a:prstGeom>
        </p:spPr>
      </p:pic>
      <p:sp>
        <p:nvSpPr>
          <p:cNvPr id="15" name="Texto"/>
          <p:cNvSpPr txBox="1"/>
          <p:nvPr/>
        </p:nvSpPr>
        <p:spPr>
          <a:xfrm>
            <a:off x="1691640" y="2249424"/>
            <a:ext cx="4434840" cy="8046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E2C"/>
                </a:solidFill>
              </a:rPr>
              <a:t>Revisão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</a:rPr>
              <a:t>IEEE, ACM, arXiv e OWASP: 11 documentos (pares, preprint, institucional)</a:t>
            </a:r>
          </a:p>
        </p:txBody>
      </p:sp>
      <p:sp>
        <p:nvSpPr>
          <p:cNvPr id="16" name="Cartão"/>
          <p:cNvSpPr/>
          <p:nvPr/>
        </p:nvSpPr>
        <p:spPr>
          <a:xfrm>
            <a:off x="822960" y="3218688"/>
            <a:ext cx="5394960" cy="896112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Ícone flask"/>
          <p:cNvSpPr/>
          <p:nvPr/>
        </p:nvSpPr>
        <p:spPr>
          <a:xfrm>
            <a:off x="987552" y="3374136"/>
            <a:ext cx="585216" cy="585216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299" y="3502883"/>
            <a:ext cx="327720" cy="327720"/>
          </a:xfrm>
          <a:prstGeom prst="rect">
            <a:avLst/>
          </a:prstGeom>
        </p:spPr>
      </p:pic>
      <p:sp>
        <p:nvSpPr>
          <p:cNvPr id="19" name="Texto"/>
          <p:cNvSpPr txBox="1"/>
          <p:nvPr/>
        </p:nvSpPr>
        <p:spPr>
          <a:xfrm>
            <a:off x="1691640" y="3273552"/>
            <a:ext cx="4434840" cy="8046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E2C"/>
                </a:solidFill>
              </a:rPr>
              <a:t>Ensaio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</a:rPr>
              <a:t>5 prompts → ChatGPT, Gemini e Claude → 15 trechos → Bandit 1.9.4 + revisão manual</a:t>
            </a:r>
          </a:p>
        </p:txBody>
      </p:sp>
      <p:sp>
        <p:nvSpPr>
          <p:cNvPr id="20" name="Cartão"/>
          <p:cNvSpPr/>
          <p:nvPr/>
        </p:nvSpPr>
        <p:spPr>
          <a:xfrm>
            <a:off x="822960" y="4242816"/>
            <a:ext cx="5394960" cy="896112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Ícone calc"/>
          <p:cNvSpPr/>
          <p:nvPr/>
        </p:nvSpPr>
        <p:spPr>
          <a:xfrm>
            <a:off x="987552" y="4398264"/>
            <a:ext cx="585216" cy="585216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l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299" y="4527011"/>
            <a:ext cx="327720" cy="327720"/>
          </a:xfrm>
          <a:prstGeom prst="rect">
            <a:avLst/>
          </a:prstGeom>
        </p:spPr>
      </p:pic>
      <p:sp>
        <p:nvSpPr>
          <p:cNvPr id="23" name="Texto"/>
          <p:cNvSpPr txBox="1"/>
          <p:nvPr/>
        </p:nvSpPr>
        <p:spPr>
          <a:xfrm>
            <a:off x="1691640" y="4297680"/>
            <a:ext cx="4434840" cy="8046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E2C"/>
                </a:solidFill>
              </a:rPr>
              <a:t>Modelo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</a:rPr>
              <a:t>Simplex tabular (Taha, 2017), conferido em Python (frações exatas, vértices, HiGHS)</a:t>
            </a:r>
          </a:p>
        </p:txBody>
      </p:sp>
      <p:sp>
        <p:nvSpPr>
          <p:cNvPr id="24" name="Cartão"/>
          <p:cNvSpPr/>
          <p:nvPr/>
        </p:nvSpPr>
        <p:spPr>
          <a:xfrm>
            <a:off x="6537960" y="2194560"/>
            <a:ext cx="4830775" cy="1965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o"/>
          <p:cNvSpPr txBox="1"/>
          <p:nvPr/>
        </p:nvSpPr>
        <p:spPr>
          <a:xfrm>
            <a:off x="6766560" y="2286000"/>
            <a:ext cx="4419295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62626"/>
                </a:solidFill>
              </a:rPr>
              <a:t>Maximizar  </a:t>
            </a:r>
            <a:r>
              <a:rPr sz="2200" b="0" i="0">
                <a:solidFill>
                  <a:srgbClr val="262626"/>
                </a:solidFill>
              </a:rPr>
              <a:t>Z = 4x₁ + 6x₂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262626"/>
                </a:solidFill>
              </a:rPr>
              <a:t>x₁ + x₂ ≤ 40</a:t>
            </a:r>
            <a:r>
              <a:rPr sz="1400" b="0" i="0">
                <a:solidFill>
                  <a:srgbClr val="595959"/>
                </a:solidFill>
              </a:rPr>
              <a:t>   (equipe)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262626"/>
                </a:solidFill>
              </a:rPr>
              <a:t>x₁ ≤ 24</a:t>
            </a:r>
            <a:r>
              <a:rPr sz="1400" b="0" i="0">
                <a:solidFill>
                  <a:srgbClr val="595959"/>
                </a:solidFill>
              </a:rPr>
              <a:t>   (pipeline de CI/CD)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262626"/>
                </a:solidFill>
              </a:rPr>
              <a:t>x₂ ≤ 20</a:t>
            </a:r>
            <a:r>
              <a:rPr sz="1400" b="0" i="0">
                <a:solidFill>
                  <a:srgbClr val="595959"/>
                </a:solidFill>
              </a:rPr>
              <a:t>   (revisão humana)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62626"/>
                </a:solidFill>
              </a:rPr>
              <a:t>x₁, x₂ ≥ 0</a:t>
            </a:r>
          </a:p>
        </p:txBody>
      </p:sp>
      <p:sp>
        <p:nvSpPr>
          <p:cNvPr id="26" name="Cartão"/>
          <p:cNvSpPr/>
          <p:nvPr/>
        </p:nvSpPr>
        <p:spPr>
          <a:xfrm>
            <a:off x="6537960" y="4297680"/>
            <a:ext cx="4830775" cy="9601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o"/>
          <p:cNvSpPr txBox="1"/>
          <p:nvPr/>
        </p:nvSpPr>
        <p:spPr>
          <a:xfrm>
            <a:off x="6720840" y="4343400"/>
            <a:ext cx="4465015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</a:rPr>
              <a:t>x₁, x₂: </a:t>
            </a:r>
            <a:r>
              <a:rPr sz="1400" b="0" i="0">
                <a:solidFill>
                  <a:srgbClr val="262626"/>
                </a:solidFill>
              </a:rPr>
              <a:t>horas semanais da equipe em análise estática e em revisão humana. </a:t>
            </a:r>
            <a:r>
              <a:rPr sz="1400" b="1" i="0">
                <a:solidFill>
                  <a:srgbClr val="C55A11"/>
                </a:solidFill>
              </a:rPr>
              <a:t>Coeficientes e limites são hipóteses, não medições.</a:t>
            </a:r>
          </a:p>
        </p:txBody>
      </p:sp>
      <p:sp>
        <p:nvSpPr>
          <p:cNvPr id="28" name="Ícone github"/>
          <p:cNvSpPr/>
          <p:nvPr/>
        </p:nvSpPr>
        <p:spPr>
          <a:xfrm>
            <a:off x="822960" y="5468112"/>
            <a:ext cx="411480" cy="41148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485" y="5558637"/>
            <a:ext cx="230428" cy="230428"/>
          </a:xfrm>
          <a:prstGeom prst="rect">
            <a:avLst/>
          </a:prstGeom>
        </p:spPr>
      </p:pic>
      <p:sp>
        <p:nvSpPr>
          <p:cNvPr id="30" name="Texto"/>
          <p:cNvSpPr txBox="1"/>
          <p:nvPr/>
        </p:nvSpPr>
        <p:spPr>
          <a:xfrm>
            <a:off x="1371600" y="5486400"/>
            <a:ext cx="9997135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</a:rPr>
              <a:t>Dados e scripts: </a:t>
            </a:r>
            <a:r>
              <a:rPr sz="1400" b="0" i="0">
                <a:solidFill>
                  <a:srgbClr val="548235"/>
                </a:solidFill>
              </a:rPr>
              <a:t>github.com/germanoafb/edepa-devsecops-simplex</a:t>
            </a:r>
          </a:p>
        </p:txBody>
      </p:sp>
    </p:spTree>
    <p:extLst>
      <p:ext uri="{BB962C8B-B14F-4D97-AF65-F5344CB8AC3E}">
        <p14:creationId xmlns:p14="http://schemas.microsoft.com/office/powerpoint/2010/main" val="1449066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6162416C-31EC-77E5-C86F-91EC27A21B70}"/>
              </a:ext>
            </a:extLst>
          </p:cNvPr>
          <p:cNvSpPr txBox="1"/>
          <p:nvPr/>
        </p:nvSpPr>
        <p:spPr>
          <a:xfrm>
            <a:off x="827313" y="865027"/>
            <a:ext cx="9971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/>
              <a:t>RESULTADOS E DISCUSSÃO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225ABED-F4FB-144D-349A-EAC24376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A9DCC7-CE67-40A0-B496-FC70A1A853DB}" type="slidenum">
              <a:rPr lang="pt-BR" sz="18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B35A2D7-8BE6-68C4-97D9-F992BA0BDC58}"/>
              </a:ext>
            </a:extLst>
          </p:cNvPr>
          <p:cNvSpPr/>
          <p:nvPr/>
        </p:nvSpPr>
        <p:spPr>
          <a:xfrm>
            <a:off x="11023600" y="6369050"/>
            <a:ext cx="304800" cy="3651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fld id="{EFA9DCC7-CE67-40A0-B496-FC70A1A853DB}" type="slidenum">
              <a:rPr lang="pt-BR" dirty="0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</a:p>
        </p:txBody>
      </p:sp>
      <p:sp>
        <p:nvSpPr>
          <p:cNvPr id="8" name="Espaço Reservado para Rodapé 10">
            <a:extLst>
              <a:ext uri="{FF2B5EF4-FFF2-40B4-BE49-F238E27FC236}">
                <a16:creationId xmlns:a16="http://schemas.microsoft.com/office/drawing/2014/main" id="{E2B17A85-99BF-4B44-80E1-C4E3613D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044514" cy="365125"/>
          </a:xfrm>
        </p:spPr>
        <p:txBody>
          <a:bodyPr/>
          <a:lstStyle/>
          <a:p>
            <a:r>
              <a:rPr lang="pt-BR" dirty="0"/>
              <a:t>Uberaba, 27 e 28 de Novembro de 2026 – Link: https://www.uniube.br/eventos/edepa/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5C7D309D-A9AA-46CB-8510-91600EB79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01" y="0"/>
            <a:ext cx="3337199" cy="1112400"/>
          </a:xfrm>
          <a:prstGeom prst="rect">
            <a:avLst/>
          </a:prstGeom>
        </p:spPr>
      </p:pic>
      <p:sp>
        <p:nvSpPr>
          <p:cNvPr id="11" name="Manchete"/>
          <p:cNvSpPr txBox="1"/>
          <p:nvPr/>
        </p:nvSpPr>
        <p:spPr>
          <a:xfrm>
            <a:off x="822960" y="1481328"/>
            <a:ext cx="10545775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4E2C"/>
                </a:solidFill>
              </a:rPr>
              <a:t>Alerta não é vulnerabilidade; o ótimo é 20 h + 20 h</a:t>
            </a:r>
          </a:p>
        </p:txBody>
      </p:sp>
      <p:sp>
        <p:nvSpPr>
          <p:cNvPr id="12" name="Cartão"/>
          <p:cNvSpPr/>
          <p:nvPr/>
        </p:nvSpPr>
        <p:spPr>
          <a:xfrm>
            <a:off x="822960" y="21488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o"/>
          <p:cNvSpPr txBox="1"/>
          <p:nvPr/>
        </p:nvSpPr>
        <p:spPr>
          <a:xfrm>
            <a:off x="914400" y="2194560"/>
            <a:ext cx="23317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1F4E2C"/>
                </a:solidFill>
              </a:rPr>
              <a:t>5/15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960120" y="2880360"/>
            <a:ext cx="22402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</a:rPr>
              <a:t>tarefas com alerta do Bandit</a:t>
            </a:r>
          </a:p>
        </p:txBody>
      </p:sp>
      <p:sp>
        <p:nvSpPr>
          <p:cNvPr id="15" name="Cartão"/>
          <p:cNvSpPr/>
          <p:nvPr/>
        </p:nvSpPr>
        <p:spPr>
          <a:xfrm>
            <a:off x="3520440" y="214884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o"/>
          <p:cNvSpPr txBox="1"/>
          <p:nvPr/>
        </p:nvSpPr>
        <p:spPr>
          <a:xfrm>
            <a:off x="3611880" y="2194560"/>
            <a:ext cx="23317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1F4E2C"/>
                </a:solidFill>
              </a:rPr>
              <a:t>0</a:t>
            </a:r>
          </a:p>
        </p:txBody>
      </p:sp>
      <p:sp>
        <p:nvSpPr>
          <p:cNvPr id="17" name="Texto"/>
          <p:cNvSpPr txBox="1"/>
          <p:nvPr/>
        </p:nvSpPr>
        <p:spPr>
          <a:xfrm>
            <a:off x="3657600" y="2880360"/>
            <a:ext cx="22402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</a:rPr>
              <a:t>alertas graves (de 11)</a:t>
            </a:r>
          </a:p>
        </p:txBody>
      </p:sp>
      <p:sp>
        <p:nvSpPr>
          <p:cNvPr id="18" name="Cartão"/>
          <p:cNvSpPr/>
          <p:nvPr/>
        </p:nvSpPr>
        <p:spPr>
          <a:xfrm>
            <a:off x="822960" y="365760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o"/>
          <p:cNvSpPr txBox="1"/>
          <p:nvPr/>
        </p:nvSpPr>
        <p:spPr>
          <a:xfrm>
            <a:off x="914400" y="3703320"/>
            <a:ext cx="23317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1F4E2C"/>
                </a:solidFill>
              </a:rPr>
              <a:t>0</a:t>
            </a:r>
          </a:p>
        </p:txBody>
      </p:sp>
      <p:sp>
        <p:nvSpPr>
          <p:cNvPr id="20" name="Texto"/>
          <p:cNvSpPr txBox="1"/>
          <p:nvPr/>
        </p:nvSpPr>
        <p:spPr>
          <a:xfrm>
            <a:off x="960120" y="4389120"/>
            <a:ext cx="22402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</a:rPr>
              <a:t>vulnerabilidades confirmadas</a:t>
            </a:r>
          </a:p>
        </p:txBody>
      </p:sp>
      <p:sp>
        <p:nvSpPr>
          <p:cNvPr id="21" name="Cartão"/>
          <p:cNvSpPr/>
          <p:nvPr/>
        </p:nvSpPr>
        <p:spPr>
          <a:xfrm>
            <a:off x="3520440" y="3657600"/>
            <a:ext cx="2514600" cy="132588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o"/>
          <p:cNvSpPr txBox="1"/>
          <p:nvPr/>
        </p:nvSpPr>
        <p:spPr>
          <a:xfrm>
            <a:off x="3611880" y="3703320"/>
            <a:ext cx="23317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C55A11"/>
                </a:solidFill>
              </a:rPr>
              <a:t>4</a:t>
            </a:r>
          </a:p>
        </p:txBody>
      </p:sp>
      <p:sp>
        <p:nvSpPr>
          <p:cNvPr id="23" name="Texto"/>
          <p:cNvSpPr txBox="1"/>
          <p:nvPr/>
        </p:nvSpPr>
        <p:spPr>
          <a:xfrm>
            <a:off x="3657600" y="4389120"/>
            <a:ext cx="22402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</a:rPr>
              <a:t>fragilidades vistas só pela revisão humana</a:t>
            </a:r>
          </a:p>
        </p:txBody>
      </p:sp>
      <p:sp>
        <p:nvSpPr>
          <p:cNvPr id="24" name="Texto"/>
          <p:cNvSpPr txBox="1"/>
          <p:nvPr/>
        </p:nvSpPr>
        <p:spPr>
          <a:xfrm>
            <a:off x="822960" y="5074920"/>
            <a:ext cx="521208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E2C"/>
                </a:solidFill>
              </a:rPr>
              <a:t>Ensaio: </a:t>
            </a:r>
            <a:r>
              <a:rPr sz="1400" b="0" i="0">
                <a:solidFill>
                  <a:srgbClr val="262626"/>
                </a:solidFill>
              </a:rPr>
              <a:t>6 alertas eram falsos positivos e 5 riscos não confirmados. Nenhuma IA gerou SQL Injection, MD5 ou Path Traversal.</a:t>
            </a:r>
          </a:p>
        </p:txBody>
      </p:sp>
      <p:pic>
        <p:nvPicPr>
          <p:cNvPr id="25" name="Picture 24" descr="regiao_vi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3635991" cy="2697480"/>
          </a:xfrm>
          <a:prstGeom prst="rect">
            <a:avLst/>
          </a:prstGeom>
        </p:spPr>
      </p:pic>
      <p:graphicFrame>
        <p:nvGraphicFramePr>
          <p:cNvPr id="26" name="Tabela"/>
          <p:cNvGraphicFramePr>
            <a:graphicFrameLocks noGrp="1"/>
          </p:cNvGraphicFramePr>
          <p:nvPr/>
        </p:nvGraphicFramePr>
        <p:xfrm>
          <a:off x="10195560" y="2194560"/>
          <a:ext cx="11887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Folgas</a:t>
                      </a:r>
                    </a:p>
                  </a:txBody>
                  <a:tcPr marL="73152" marR="73152" marT="36576" marB="36576" anchor="ctr">
                    <a:solidFill>
                      <a:srgbClr val="1F4E2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s₁ =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s₂ = 4 h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s₃ =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o"/>
          <p:cNvSpPr txBox="1"/>
          <p:nvPr/>
        </p:nvSpPr>
        <p:spPr>
          <a:xfrm>
            <a:off x="6309360" y="4846320"/>
            <a:ext cx="5059375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E2C"/>
                </a:solidFill>
              </a:rPr>
              <a:t>Sensibilidade (+1 h): </a:t>
            </a:r>
            <a:r>
              <a:rPr sz="1400" b="0" i="0">
                <a:solidFill>
                  <a:srgbClr val="262626"/>
                </a:solidFill>
              </a:rPr>
              <a:t>equipe +4, revisão +2, pipeline 0. </a:t>
            </a:r>
            <a:r>
              <a:rPr sz="1400" b="0" i="0">
                <a:solidFill>
                  <a:srgbClr val="595959"/>
                </a:solidFill>
              </a:rPr>
              <a:t>A folga de 4 h é capacidade ociosa do pipeline; sem custos no modelo, não se conclui qual expansão compensa.</a:t>
            </a:r>
          </a:p>
        </p:txBody>
      </p:sp>
    </p:spTree>
    <p:extLst>
      <p:ext uri="{BB962C8B-B14F-4D97-AF65-F5344CB8AC3E}">
        <p14:creationId xmlns:p14="http://schemas.microsoft.com/office/powerpoint/2010/main" val="133506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6162416C-31EC-77E5-C86F-91EC27A21B70}"/>
              </a:ext>
            </a:extLst>
          </p:cNvPr>
          <p:cNvSpPr txBox="1"/>
          <p:nvPr/>
        </p:nvSpPr>
        <p:spPr>
          <a:xfrm>
            <a:off x="827313" y="865027"/>
            <a:ext cx="9971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/>
              <a:t>CONCLUSÃO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84D1A97-B7B4-122C-DE2E-2DA42D6E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A9DCC7-CE67-40A0-B496-FC70A1A853DB}" type="slidenum">
              <a:rPr lang="pt-BR" sz="18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10161DD-C2AB-82FF-A3A7-45992CA3264B}"/>
              </a:ext>
            </a:extLst>
          </p:cNvPr>
          <p:cNvSpPr/>
          <p:nvPr/>
        </p:nvSpPr>
        <p:spPr>
          <a:xfrm>
            <a:off x="11023600" y="6369050"/>
            <a:ext cx="304800" cy="3651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fld id="{EFA9DCC7-CE67-40A0-B496-FC70A1A853DB}" type="slidenum">
              <a:rPr lang="pt-BR" dirty="0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</a:p>
        </p:txBody>
      </p:sp>
      <p:sp>
        <p:nvSpPr>
          <p:cNvPr id="7" name="Espaço Reservado para Rodapé 10">
            <a:extLst>
              <a:ext uri="{FF2B5EF4-FFF2-40B4-BE49-F238E27FC236}">
                <a16:creationId xmlns:a16="http://schemas.microsoft.com/office/drawing/2014/main" id="{85C409FA-7E6B-4B29-B49A-7EA4E056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044514" cy="365125"/>
          </a:xfrm>
        </p:spPr>
        <p:txBody>
          <a:bodyPr/>
          <a:lstStyle/>
          <a:p>
            <a:r>
              <a:rPr lang="pt-BR" dirty="0"/>
              <a:t>Uberaba, 27 e 28 de Novembro de 2026 – Link: https://www.uniube.br/eventos/edepa/</a:t>
            </a:r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286CFBAF-B80E-455F-AAB1-E779FED33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01" y="0"/>
            <a:ext cx="3337199" cy="1112400"/>
          </a:xfrm>
          <a:prstGeom prst="rect">
            <a:avLst/>
          </a:prstGeom>
        </p:spPr>
      </p:pic>
      <p:sp>
        <p:nvSpPr>
          <p:cNvPr id="11" name="Manchete"/>
          <p:cNvSpPr txBox="1"/>
          <p:nvPr/>
        </p:nvSpPr>
        <p:spPr>
          <a:xfrm>
            <a:off x="822960" y="1481328"/>
            <a:ext cx="10545775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4E2C"/>
                </a:solidFill>
              </a:rPr>
              <a:t>Automação e revisão humana se complementam</a:t>
            </a:r>
          </a:p>
        </p:txBody>
      </p:sp>
      <p:sp>
        <p:nvSpPr>
          <p:cNvPr id="12" name="Ícone check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2305202"/>
            <a:ext cx="281635" cy="281635"/>
          </a:xfrm>
          <a:prstGeom prst="rect">
            <a:avLst/>
          </a:prstGeom>
        </p:spPr>
      </p:pic>
      <p:sp>
        <p:nvSpPr>
          <p:cNvPr id="14" name="Texto"/>
          <p:cNvSpPr txBox="1"/>
          <p:nvPr/>
        </p:nvSpPr>
        <p:spPr>
          <a:xfrm>
            <a:off x="1463040" y="2212848"/>
            <a:ext cx="99056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E2C"/>
                </a:solidFill>
              </a:rPr>
              <a:t>Literatura: </a:t>
            </a:r>
            <a:r>
              <a:rPr sz="1700" b="0" i="0">
                <a:solidFill>
                  <a:srgbClr val="262626"/>
                </a:solidFill>
              </a:rPr>
              <a:t>código gerado por IA pode ser inseguro, mas os estudos medem grandezas diferentes.</a:t>
            </a:r>
          </a:p>
        </p:txBody>
      </p:sp>
      <p:sp>
        <p:nvSpPr>
          <p:cNvPr id="15" name="Ícone check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3082442"/>
            <a:ext cx="281635" cy="281635"/>
          </a:xfrm>
          <a:prstGeom prst="rect">
            <a:avLst/>
          </a:prstGeom>
        </p:spPr>
      </p:pic>
      <p:sp>
        <p:nvSpPr>
          <p:cNvPr id="17" name="Texto"/>
          <p:cNvSpPr txBox="1"/>
          <p:nvPr/>
        </p:nvSpPr>
        <p:spPr>
          <a:xfrm>
            <a:off x="1463040" y="2990088"/>
            <a:ext cx="99056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E2C"/>
                </a:solidFill>
              </a:rPr>
              <a:t>Ensaio: </a:t>
            </a:r>
            <a:r>
              <a:rPr sz="1700" b="0" i="0">
                <a:solidFill>
                  <a:srgbClr val="262626"/>
                </a:solidFill>
              </a:rPr>
              <a:t>o Bandit gerou alertas sem vulnerabilidade confirmada e não viu 4 fragilidades: a revisão humana segue necessária.</a:t>
            </a:r>
          </a:p>
        </p:txBody>
      </p:sp>
      <p:sp>
        <p:nvSpPr>
          <p:cNvPr id="18" name="Ícone check"/>
          <p:cNvSpPr/>
          <p:nvPr/>
        </p:nvSpPr>
        <p:spPr>
          <a:xfrm>
            <a:off x="822960" y="3749039"/>
            <a:ext cx="502920" cy="5029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3859682"/>
            <a:ext cx="281635" cy="281635"/>
          </a:xfrm>
          <a:prstGeom prst="rect">
            <a:avLst/>
          </a:prstGeom>
        </p:spPr>
      </p:pic>
      <p:sp>
        <p:nvSpPr>
          <p:cNvPr id="20" name="Texto"/>
          <p:cNvSpPr txBox="1"/>
          <p:nvPr/>
        </p:nvSpPr>
        <p:spPr>
          <a:xfrm>
            <a:off x="1463040" y="3767327"/>
            <a:ext cx="9905695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E2C"/>
                </a:solidFill>
              </a:rPr>
              <a:t>Simplex: </a:t>
            </a:r>
            <a:r>
              <a:rPr sz="1700" b="0" i="0">
                <a:solidFill>
                  <a:srgbClr val="262626"/>
                </a:solidFill>
              </a:rPr>
              <a:t>alocação (20, 20) correta e verificada; o modelo é demonstrativo, com parâmetros hipotéticos.</a:t>
            </a:r>
          </a:p>
        </p:txBody>
      </p:sp>
      <p:sp>
        <p:nvSpPr>
          <p:cNvPr id="21" name="Cartão"/>
          <p:cNvSpPr/>
          <p:nvPr/>
        </p:nvSpPr>
        <p:spPr>
          <a:xfrm>
            <a:off x="822960" y="4572000"/>
            <a:ext cx="5135727" cy="1188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o"/>
          <p:cNvSpPr txBox="1"/>
          <p:nvPr/>
        </p:nvSpPr>
        <p:spPr>
          <a:xfrm>
            <a:off x="1005840" y="4645152"/>
            <a:ext cx="4769967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</a:rPr>
              <a:t>Limitações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</a:rPr>
              <a:t>15 trechos, uma geração por IA, condições distintas; coeficientes não calibrados; sem custos.</a:t>
            </a:r>
          </a:p>
        </p:txBody>
      </p:sp>
      <p:sp>
        <p:nvSpPr>
          <p:cNvPr id="23" name="Cartão"/>
          <p:cNvSpPr/>
          <p:nvPr/>
        </p:nvSpPr>
        <p:spPr>
          <a:xfrm>
            <a:off x="6233007" y="4572000"/>
            <a:ext cx="5135727" cy="118872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o"/>
          <p:cNvSpPr txBox="1"/>
          <p:nvPr/>
        </p:nvSpPr>
        <p:spPr>
          <a:xfrm>
            <a:off x="6415887" y="4645152"/>
            <a:ext cx="4769967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2C"/>
                </a:solidFill>
              </a:rPr>
              <a:t>Trabalhos futuros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</a:rPr>
              <a:t>Ampliar o ensaio, calibrar os coeficientes com tempos reais e incluir custos de capacidade.</a:t>
            </a:r>
          </a:p>
        </p:txBody>
      </p:sp>
    </p:spTree>
    <p:extLst>
      <p:ext uri="{BB962C8B-B14F-4D97-AF65-F5344CB8AC3E}">
        <p14:creationId xmlns:p14="http://schemas.microsoft.com/office/powerpoint/2010/main" val="243586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6162416C-31EC-77E5-C86F-91EC27A21B70}"/>
              </a:ext>
            </a:extLst>
          </p:cNvPr>
          <p:cNvSpPr txBox="1"/>
          <p:nvPr/>
        </p:nvSpPr>
        <p:spPr>
          <a:xfrm>
            <a:off x="827313" y="865027"/>
            <a:ext cx="9971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/>
              <a:t>REFERÊNCIAS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12E2C74-ECCC-5EFD-5588-E49B9452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A9DCC7-CE67-40A0-B496-FC70A1A853DB}" type="slidenum">
              <a:rPr lang="pt-BR" sz="18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9099815-E5E6-EA81-7A70-65090B4E52F0}"/>
              </a:ext>
            </a:extLst>
          </p:cNvPr>
          <p:cNvSpPr/>
          <p:nvPr/>
        </p:nvSpPr>
        <p:spPr>
          <a:xfrm>
            <a:off x="11023600" y="6369050"/>
            <a:ext cx="304800" cy="3651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fld id="{EFA9DCC7-CE67-40A0-B496-FC70A1A853DB}" type="slidenum">
              <a:rPr lang="pt-BR" dirty="0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</a:p>
        </p:txBody>
      </p:sp>
      <p:sp>
        <p:nvSpPr>
          <p:cNvPr id="7" name="Espaço Reservado para Rodapé 10">
            <a:extLst>
              <a:ext uri="{FF2B5EF4-FFF2-40B4-BE49-F238E27FC236}">
                <a16:creationId xmlns:a16="http://schemas.microsoft.com/office/drawing/2014/main" id="{0BA5AF5E-A93C-4DA1-8A45-23C88AA51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044514" cy="365125"/>
          </a:xfrm>
        </p:spPr>
        <p:txBody>
          <a:bodyPr/>
          <a:lstStyle/>
          <a:p>
            <a:r>
              <a:rPr lang="pt-BR" dirty="0"/>
              <a:t>Uberaba, 27 e 28 de Novembro de 2026 – Link: https://www.uniube.br/eventos/edepa/</a:t>
            </a:r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27A4AC7F-84C4-4390-9470-CB9476521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01" y="0"/>
            <a:ext cx="3337199" cy="1112400"/>
          </a:xfrm>
          <a:prstGeom prst="rect">
            <a:avLst/>
          </a:prstGeom>
        </p:spPr>
      </p:pic>
      <p:sp>
        <p:nvSpPr>
          <p:cNvPr id="11" name="Texto"/>
          <p:cNvSpPr txBox="1"/>
          <p:nvPr/>
        </p:nvSpPr>
        <p:spPr>
          <a:xfrm>
            <a:off x="822960" y="1691640"/>
            <a:ext cx="5090007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CARLINI, N. et al. (2024). Poisoning Web-Scale Training Datasets is Practical. IEEE S&amp;P, p. 407–425.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DU, X. et al. (2026). Reducing False Positives in Static Bug Detection with LLMs. arXiv:2601.18844.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FIROUZI, E.; GHAFARI, M. (2026). Can Generative AI Detect and Fix Real-World Cryptographic Misuses? J. Systems and Software, 232.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HUBINGER, E. et al. (2024). Sleeper Agents. arXiv:2401.05566.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OWASP FOUNDATION (2025). LLM03:2025 Supply Chain. OWASP Gen AI Security Project.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PEARCE, H. et al. (2022). Asleep at the Keyboard? IEEE S&amp;P, p. 754–768.</a:t>
            </a:r>
          </a:p>
        </p:txBody>
      </p:sp>
      <p:sp>
        <p:nvSpPr>
          <p:cNvPr id="12" name="Texto"/>
          <p:cNvSpPr txBox="1"/>
          <p:nvPr/>
        </p:nvSpPr>
        <p:spPr>
          <a:xfrm>
            <a:off x="6278727" y="1691640"/>
            <a:ext cx="5090007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PERRY, N. et al. (2023). Do Users Write More Insecure Code with AI Assistants? ACM CCS, p. 2785–2799.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PINHEIRO, J. M. S. (2019). Segurança Cibernética Integrada na Indústria 4.0. ABM Week, p. 218–227.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TAHA, H. A. (2017). Operations Research: An Introduction. 10. ed. Pearson.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WANG, J. et al. (2024). Is Your AI-Generated Code Really Secure? arXiv:2407.02395v1.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YANG, S. et al. (2025). Generative AI for Vulnerability Detection in 6G Wireless Networks. arXiv:2506.20488.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</a:rPr>
              <a:t>ZHANG, C. et al. (2024). (Gen)AI Versus (Gen)AI in Industrial Control Cybersecurity. WSC, p. 2739–2750.</a:t>
            </a:r>
          </a:p>
        </p:txBody>
      </p:sp>
      <p:sp>
        <p:nvSpPr>
          <p:cNvPr id="13" name="Texto"/>
          <p:cNvSpPr txBox="1"/>
          <p:nvPr/>
        </p:nvSpPr>
        <p:spPr>
          <a:xfrm>
            <a:off x="822960" y="5440680"/>
            <a:ext cx="10545775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</a:rPr>
              <a:t>Lista completa, com todos os autores e DOIs, no artigo.</a:t>
            </a:r>
          </a:p>
        </p:txBody>
      </p:sp>
    </p:spTree>
    <p:extLst>
      <p:ext uri="{BB962C8B-B14F-4D97-AF65-F5344CB8AC3E}">
        <p14:creationId xmlns:p14="http://schemas.microsoft.com/office/powerpoint/2010/main" val="394091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6162416C-31EC-77E5-C86F-91EC27A21B70}"/>
              </a:ext>
            </a:extLst>
          </p:cNvPr>
          <p:cNvSpPr txBox="1"/>
          <p:nvPr/>
        </p:nvSpPr>
        <p:spPr>
          <a:xfrm>
            <a:off x="827313" y="865027"/>
            <a:ext cx="9971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/>
              <a:t>AGRADECIMENTOS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95261F1-11B7-BE5C-8323-CBC2719DB2E7}"/>
              </a:ext>
            </a:extLst>
          </p:cNvPr>
          <p:cNvSpPr/>
          <p:nvPr/>
        </p:nvSpPr>
        <p:spPr>
          <a:xfrm>
            <a:off x="11023600" y="6369050"/>
            <a:ext cx="304800" cy="3651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fld id="{EFA9DCC7-CE67-40A0-B496-FC70A1A853DB}" type="slidenum">
              <a:rPr lang="pt-BR" dirty="0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</a:p>
        </p:txBody>
      </p:sp>
      <p:sp>
        <p:nvSpPr>
          <p:cNvPr id="6" name="Espaço Reservado para Rodapé 10">
            <a:extLst>
              <a:ext uri="{FF2B5EF4-FFF2-40B4-BE49-F238E27FC236}">
                <a16:creationId xmlns:a16="http://schemas.microsoft.com/office/drawing/2014/main" id="{73260678-C74B-4138-81DE-CBEE412C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044514" cy="365125"/>
          </a:xfrm>
        </p:spPr>
        <p:txBody>
          <a:bodyPr/>
          <a:lstStyle/>
          <a:p>
            <a:r>
              <a:rPr lang="pt-BR" dirty="0"/>
              <a:t>Uberaba, 27 e 28 de Novembro de 2026 – Link: https://www.uniube.br/eventos/edepa/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673342D4-605B-41A6-8977-211A53DA1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801" y="0"/>
            <a:ext cx="3337199" cy="1112400"/>
          </a:xfrm>
          <a:prstGeom prst="rect">
            <a:avLst/>
          </a:prstGeom>
        </p:spPr>
      </p:pic>
      <p:sp>
        <p:nvSpPr>
          <p:cNvPr id="11" name="Texto"/>
          <p:cNvSpPr txBox="1"/>
          <p:nvPr/>
        </p:nvSpPr>
        <p:spPr>
          <a:xfrm>
            <a:off x="822960" y="1828800"/>
            <a:ext cx="676656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62626"/>
                </a:solidFill>
              </a:rPr>
              <a:t>À Universidade de Uberaba (UNIUBE) e à organização do X EDEPA.</a:t>
            </a:r>
          </a:p>
        </p:txBody>
      </p:sp>
      <p:sp>
        <p:nvSpPr>
          <p:cNvPr id="12" name="Texto"/>
          <p:cNvSpPr txBox="1"/>
          <p:nvPr/>
        </p:nvSpPr>
        <p:spPr>
          <a:xfrm>
            <a:off x="822960" y="2834640"/>
            <a:ext cx="676656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1F4E2C"/>
                </a:solidFill>
              </a:rPr>
              <a:t>Obrigado!</a:t>
            </a:r>
          </a:p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548235"/>
                </a:solidFill>
              </a:rPr>
              <a:t>Perguntas?</a:t>
            </a:r>
          </a:p>
        </p:txBody>
      </p:sp>
      <p:sp>
        <p:nvSpPr>
          <p:cNvPr id="13" name="Texto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</a:rPr>
              <a:t>Contato: </a:t>
            </a:r>
            <a:r>
              <a:rPr sz="1600" b="0" i="0">
                <a:solidFill>
                  <a:srgbClr val="262626"/>
                </a:solidFill>
              </a:rPr>
              <a:t>germanofb@edu.uniube.br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</a:rPr>
              <a:t>Material de verificação: </a:t>
            </a:r>
            <a:r>
              <a:rPr sz="1600" b="0" i="0">
                <a:solidFill>
                  <a:srgbClr val="548235"/>
                </a:solidFill>
              </a:rPr>
              <a:t>github.com/germanoafb/edepa-devsecops-simplex</a:t>
            </a:r>
          </a:p>
        </p:txBody>
      </p:sp>
      <p:sp>
        <p:nvSpPr>
          <p:cNvPr id="14" name="Cartão"/>
          <p:cNvSpPr/>
          <p:nvPr/>
        </p:nvSpPr>
        <p:spPr>
          <a:xfrm>
            <a:off x="8229600" y="1783080"/>
            <a:ext cx="3108960" cy="3611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65960"/>
            <a:ext cx="2468880" cy="2468880"/>
          </a:xfrm>
          <a:prstGeom prst="rect">
            <a:avLst/>
          </a:prstGeom>
        </p:spPr>
      </p:pic>
      <p:sp>
        <p:nvSpPr>
          <p:cNvPr id="16" name="Texto"/>
          <p:cNvSpPr txBox="1"/>
          <p:nvPr/>
        </p:nvSpPr>
        <p:spPr>
          <a:xfrm>
            <a:off x="8321040" y="4526280"/>
            <a:ext cx="29260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</a:rPr>
              <a:t>Aponte a câmera: códigos, dados e notebook para refazer as contas</a:t>
            </a:r>
          </a:p>
        </p:txBody>
      </p:sp>
    </p:spTree>
    <p:extLst>
      <p:ext uri="{BB962C8B-B14F-4D97-AF65-F5344CB8AC3E}">
        <p14:creationId xmlns:p14="http://schemas.microsoft.com/office/powerpoint/2010/main" val="4016958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227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TÍTULO DO TRABALHO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</dc:title>
  <dc:creator>ADRIANO DAWISON DE LIMA</dc:creator>
  <cp:lastModifiedBy>Lenner de Almeida Alves Pereira</cp:lastModifiedBy>
  <cp:revision>9</cp:revision>
  <dcterms:created xsi:type="dcterms:W3CDTF">2023-10-06T19:39:56Z</dcterms:created>
  <dcterms:modified xsi:type="dcterms:W3CDTF">2026-09-02T20:23:44Z</dcterms:modified>
</cp:coreProperties>
</file>